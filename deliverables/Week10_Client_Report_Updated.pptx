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Lato Bold" charset="1" panose="020F0502020204030203"/>
      <p:regular r:id="rId27"/>
    </p:embeddedFont>
    <p:embeddedFont>
      <p:font typeface="Times New Roman Bold" charset="1" panose="02020803070505020304"/>
      <p:regular r:id="rId28"/>
    </p:embeddedFont>
    <p:embeddedFont>
      <p:font typeface="Lato" charset="1" panose="020F0502020204030203"/>
      <p:regular r:id="rId30"/>
    </p:embeddedFont>
    <p:embeddedFont>
      <p:font typeface="Lato Italics" charset="1" panose="020F0502020204030203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notesMaster" Target="notesMasters/notesMaster1.xml"/><Relationship Id="rId25" Type="http://schemas.openxmlformats.org/officeDocument/2006/relationships/theme" Target="theme/theme2.xml"/><Relationship Id="rId26" Type="http://schemas.openxmlformats.org/officeDocument/2006/relationships/notesSlide" Target="notesSlides/notesSlide1.xml"/><Relationship Id="rId27" Type="http://schemas.openxmlformats.org/officeDocument/2006/relationships/font" Target="fonts/font27.fntdata"/><Relationship Id="rId28" Type="http://schemas.openxmlformats.org/officeDocument/2006/relationships/font" Target="fonts/font28.fntdata"/><Relationship Id="rId29" Type="http://schemas.openxmlformats.org/officeDocument/2006/relationships/notesSlide" Target="notesSlides/notesSlide2.xml"/><Relationship Id="rId30" Type="http://schemas.openxmlformats.org/officeDocument/2006/relationships/font" Target="fonts/font30.fntdata"/><Relationship Id="rId31" Type="http://schemas.openxmlformats.org/officeDocument/2006/relationships/notesSlide" Target="notesSlides/notesSlide3.xml"/><Relationship Id="rId32" Type="http://schemas.openxmlformats.org/officeDocument/2006/relationships/notesSlide" Target="notesSlides/notesSlide4.xml"/><Relationship Id="rId33" Type="http://schemas.openxmlformats.org/officeDocument/2006/relationships/notesSlide" Target="notesSlides/notesSlide5.xml"/><Relationship Id="rId34" Type="http://schemas.openxmlformats.org/officeDocument/2006/relationships/notesSlide" Target="notesSlides/notesSlide6.xml"/><Relationship Id="rId35" Type="http://schemas.openxmlformats.org/officeDocument/2006/relationships/font" Target="fonts/font35.fntdata"/><Relationship Id="rId36" Type="http://schemas.openxmlformats.org/officeDocument/2006/relationships/notesSlide" Target="notesSlides/notesSlide7.xml"/><Relationship Id="rId37" Type="http://schemas.openxmlformats.org/officeDocument/2006/relationships/notesSlide" Target="notesSlides/notesSlide8.xml"/><Relationship Id="rId38" Type="http://schemas.openxmlformats.org/officeDocument/2006/relationships/notesSlide" Target="notesSlides/notesSlide9.xml"/><Relationship Id="rId39" Type="http://schemas.openxmlformats.org/officeDocument/2006/relationships/notesSlide" Target="notesSlides/notes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Speaker notes:</a:t>
            </a:r>
          </a:p>
          <a:p>
            <a:r>
              <a:t>This slide explains the number itself. GiNZA proposes candidate phrases, but it does not calculate the BERT score. For each source-sentence and candidate pair, BERT produces two unnormalized values: a NOT_TERM logit and a TERM logit. Softmax converts those two values into probabilities that add up to one. The application stores the TERM probability, rounded to four decimal places. Therefore, a score of 0.9998 means the TERM logit was far higher than the NOT_TERM logit for that pair. It does not mean the term is 99.98 percent guaranteed to be correct; the score is used to rank and filter candidates. When a term occurs more than once, the displayed score is the highest score across its occurrences. The reviewer remains responsible for the final JR-specific, not-JR, or discussion decision.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jpe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3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9949" y="497072"/>
            <a:ext cx="4761547" cy="1429464"/>
            <a:chOff x="0" y="0"/>
            <a:chExt cx="6348730" cy="19059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48730" cy="1905889"/>
            </a:xfrm>
            <a:custGeom>
              <a:avLst/>
              <a:gdLst/>
              <a:ahLst/>
              <a:cxnLst/>
              <a:rect r="r" b="b" t="t" l="l"/>
              <a:pathLst>
                <a:path h="1905889" w="6348730">
                  <a:moveTo>
                    <a:pt x="0" y="0"/>
                  </a:moveTo>
                  <a:lnTo>
                    <a:pt x="6348730" y="0"/>
                  </a:lnTo>
                  <a:lnTo>
                    <a:pt x="6348730" y="1905889"/>
                  </a:lnTo>
                  <a:lnTo>
                    <a:pt x="0" y="1905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1" b="-3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826204" y="9775507"/>
            <a:ext cx="3931920" cy="4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0376F"/>
                </a:solidFill>
                <a:latin typeface="Lato Bold"/>
                <a:ea typeface="Lato Bold"/>
                <a:cs typeface="Lato Bold"/>
                <a:sym typeface="Lato Bold"/>
              </a:rPr>
              <a:t>1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913020" y="497072"/>
            <a:ext cx="4150900" cy="1429464"/>
            <a:chOff x="0" y="0"/>
            <a:chExt cx="5534533" cy="19059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34533" cy="1905889"/>
            </a:xfrm>
            <a:custGeom>
              <a:avLst/>
              <a:gdLst/>
              <a:ahLst/>
              <a:cxnLst/>
              <a:rect r="r" b="b" t="t" l="l"/>
              <a:pathLst>
                <a:path h="1905889" w="5534533">
                  <a:moveTo>
                    <a:pt x="0" y="0"/>
                  </a:moveTo>
                  <a:lnTo>
                    <a:pt x="5534533" y="0"/>
                  </a:lnTo>
                  <a:lnTo>
                    <a:pt x="5534533" y="1905889"/>
                  </a:lnTo>
                  <a:lnTo>
                    <a:pt x="0" y="190588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7136" y="2483710"/>
            <a:ext cx="9507741" cy="907694"/>
            <a:chOff x="0" y="0"/>
            <a:chExt cx="12676988" cy="12102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76992" cy="1210262"/>
            </a:xfrm>
            <a:custGeom>
              <a:avLst/>
              <a:gdLst/>
              <a:ahLst/>
              <a:cxnLst/>
              <a:rect r="r" b="b" t="t" l="l"/>
              <a:pathLst>
                <a:path h="1210262" w="12676992">
                  <a:moveTo>
                    <a:pt x="0" y="0"/>
                  </a:moveTo>
                  <a:lnTo>
                    <a:pt x="12676992" y="0"/>
                  </a:lnTo>
                  <a:lnTo>
                    <a:pt x="12676992" y="1210262"/>
                  </a:lnTo>
                  <a:lnTo>
                    <a:pt x="0" y="12102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4097" r="0" b="-15409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2676988" cy="12388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40"/>
                </a:lnSpc>
              </a:pPr>
              <a:r>
                <a:rPr lang="en-US" sz="4950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WEEKLY RESEARCH REPORT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1649626" y="3767722"/>
          <a:ext cx="13891662" cy="5198071"/>
        </p:xfrm>
        <a:graphic>
          <a:graphicData uri="http://schemas.openxmlformats.org/drawingml/2006/table">
            <a:tbl>
              <a:tblPr/>
              <a:tblGrid>
                <a:gridCol w="4663535"/>
                <a:gridCol w="9228127"/>
              </a:tblGrid>
              <a:tr h="13936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3A3838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Week</a:t>
                      </a:r>
                      <a:endParaRPr lang="en-US" sz="1100"/>
                    </a:p>
                  </a:txBody>
                  <a:tcPr marL="68600" marR="68600" marT="68600" marB="686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3A3838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Week 10 / From 12/7/2026 - 30/7/2026</a:t>
                      </a:r>
                      <a:endParaRPr lang="en-US" sz="1100"/>
                    </a:p>
                  </a:txBody>
                  <a:tcPr marL="68600" marR="68600" marT="68600" marB="686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94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3A3838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Member</a:t>
                      </a:r>
                      <a:endParaRPr lang="en-US" sz="1100"/>
                    </a:p>
                  </a:txBody>
                  <a:tcPr marL="68600" marR="68600" marT="68600" marB="686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AKIRA, SHUICHI</a:t>
                      </a:r>
                      <a:endParaRPr lang="en-US" sz="1100"/>
                    </a:p>
                  </a:txBody>
                  <a:tcPr marL="68600" marR="68600" marT="68600" marB="686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94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3A3838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Research Theme</a:t>
                      </a:r>
                      <a:endParaRPr lang="en-US" sz="1100"/>
                    </a:p>
                  </a:txBody>
                  <a:tcPr marL="68600" marR="68600" marT="68600" marB="686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Building a Railway Terminology Training Dataset</a:t>
                      </a:r>
                      <a:endParaRPr lang="en-US" sz="1100"/>
                    </a:p>
                  </a:txBody>
                  <a:tcPr marL="68600" marR="68600" marT="68600" marB="686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54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3A3838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Mentor</a:t>
                      </a:r>
                      <a:endParaRPr lang="en-US" sz="1100"/>
                    </a:p>
                  </a:txBody>
                  <a:tcPr marL="68600" marR="68600" marT="68600" marB="686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Dr. BUI QUOC BAO</a:t>
                      </a:r>
                      <a:endParaRPr lang="en-US" sz="1100"/>
                    </a:p>
                  </a:txBody>
                  <a:tcPr marL="68600" marR="68600" marT="68600" marB="686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787136" y="6837228"/>
            <a:ext cx="621525" cy="691401"/>
            <a:chOff x="0" y="0"/>
            <a:chExt cx="828700" cy="921868"/>
          </a:xfrm>
        </p:grpSpPr>
        <p:sp>
          <p:nvSpPr>
            <p:cNvPr name="Freeform 13" id="13" descr="Books with solid fill"/>
            <p:cNvSpPr/>
            <p:nvPr/>
          </p:nvSpPr>
          <p:spPr>
            <a:xfrm flipH="false" flipV="false" rot="0">
              <a:off x="0" y="0"/>
              <a:ext cx="828675" cy="921893"/>
            </a:xfrm>
            <a:custGeom>
              <a:avLst/>
              <a:gdLst/>
              <a:ahLst/>
              <a:cxnLst/>
              <a:rect r="r" b="b" t="t" l="l"/>
              <a:pathLst>
                <a:path h="921893" w="828675">
                  <a:moveTo>
                    <a:pt x="0" y="0"/>
                  </a:moveTo>
                  <a:lnTo>
                    <a:pt x="828675" y="0"/>
                  </a:lnTo>
                  <a:lnTo>
                    <a:pt x="828675" y="921893"/>
                  </a:lnTo>
                  <a:lnTo>
                    <a:pt x="0" y="921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1245" b="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65013" y="8077676"/>
            <a:ext cx="621525" cy="691401"/>
            <a:chOff x="0" y="0"/>
            <a:chExt cx="828700" cy="921868"/>
          </a:xfrm>
        </p:grpSpPr>
        <p:sp>
          <p:nvSpPr>
            <p:cNvPr name="Freeform 15" id="15" descr="Classroom with solid fill"/>
            <p:cNvSpPr/>
            <p:nvPr/>
          </p:nvSpPr>
          <p:spPr>
            <a:xfrm flipH="false" flipV="false" rot="0">
              <a:off x="0" y="0"/>
              <a:ext cx="828675" cy="921893"/>
            </a:xfrm>
            <a:custGeom>
              <a:avLst/>
              <a:gdLst/>
              <a:ahLst/>
              <a:cxnLst/>
              <a:rect r="r" b="b" t="t" l="l"/>
              <a:pathLst>
                <a:path h="921893" w="828675">
                  <a:moveTo>
                    <a:pt x="0" y="0"/>
                  </a:moveTo>
                  <a:lnTo>
                    <a:pt x="828675" y="0"/>
                  </a:lnTo>
                  <a:lnTo>
                    <a:pt x="828675" y="921893"/>
                  </a:lnTo>
                  <a:lnTo>
                    <a:pt x="0" y="921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1245" b="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87136" y="5388840"/>
            <a:ext cx="621525" cy="691401"/>
            <a:chOff x="0" y="0"/>
            <a:chExt cx="828700" cy="921868"/>
          </a:xfrm>
        </p:grpSpPr>
        <p:sp>
          <p:nvSpPr>
            <p:cNvPr name="Freeform 17" id="17" descr="School boy with solid fill"/>
            <p:cNvSpPr/>
            <p:nvPr/>
          </p:nvSpPr>
          <p:spPr>
            <a:xfrm flipH="false" flipV="false" rot="0">
              <a:off x="0" y="0"/>
              <a:ext cx="828675" cy="921893"/>
            </a:xfrm>
            <a:custGeom>
              <a:avLst/>
              <a:gdLst/>
              <a:ahLst/>
              <a:cxnLst/>
              <a:rect r="r" b="b" t="t" l="l"/>
              <a:pathLst>
                <a:path h="921893" w="828675">
                  <a:moveTo>
                    <a:pt x="0" y="0"/>
                  </a:moveTo>
                  <a:lnTo>
                    <a:pt x="828675" y="0"/>
                  </a:lnTo>
                  <a:lnTo>
                    <a:pt x="828675" y="921893"/>
                  </a:lnTo>
                  <a:lnTo>
                    <a:pt x="0" y="921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1245" b="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87136" y="4092047"/>
            <a:ext cx="621525" cy="691401"/>
            <a:chOff x="0" y="0"/>
            <a:chExt cx="828700" cy="921868"/>
          </a:xfrm>
        </p:grpSpPr>
        <p:sp>
          <p:nvSpPr>
            <p:cNvPr name="Freeform 19" id="19" descr="Flip calendar with solid fill"/>
            <p:cNvSpPr/>
            <p:nvPr/>
          </p:nvSpPr>
          <p:spPr>
            <a:xfrm flipH="false" flipV="false" rot="0">
              <a:off x="0" y="0"/>
              <a:ext cx="828675" cy="921893"/>
            </a:xfrm>
            <a:custGeom>
              <a:avLst/>
              <a:gdLst/>
              <a:ahLst/>
              <a:cxnLst/>
              <a:rect r="r" b="b" t="t" l="l"/>
              <a:pathLst>
                <a:path h="921893" w="828675">
                  <a:moveTo>
                    <a:pt x="0" y="0"/>
                  </a:moveTo>
                  <a:lnTo>
                    <a:pt x="828675" y="0"/>
                  </a:lnTo>
                  <a:lnTo>
                    <a:pt x="828675" y="921893"/>
                  </a:lnTo>
                  <a:lnTo>
                    <a:pt x="0" y="921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1245" b="2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826204" y="9775507"/>
            <a:ext cx="3931920" cy="4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0376F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77808" y="2672420"/>
            <a:ext cx="9302715" cy="4375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6"/>
              </a:lnSpc>
            </a:pPr>
            <a:r>
              <a:rPr lang="en-US" sz="36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 – </a:t>
            </a:r>
            <a:r>
              <a:rPr lang="en-US" sz="3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WEEKLY WORK OBJECTIVES</a:t>
            </a:r>
          </a:p>
          <a:p>
            <a:pPr algn="l">
              <a:lnSpc>
                <a:spcPts val="5796"/>
              </a:lnSpc>
            </a:pPr>
            <a:r>
              <a:rPr lang="en-US" sz="36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 –</a:t>
            </a:r>
            <a:r>
              <a:rPr lang="en-US" sz="3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TASKS COMPLETED</a:t>
            </a:r>
          </a:p>
          <a:p>
            <a:pPr algn="l">
              <a:lnSpc>
                <a:spcPts val="5796"/>
              </a:lnSpc>
            </a:pPr>
            <a:r>
              <a:rPr lang="en-US" sz="36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 – </a:t>
            </a:r>
            <a:r>
              <a:rPr lang="en-US" sz="3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ACHIEVEMENTS / RESULTS</a:t>
            </a:r>
          </a:p>
          <a:p>
            <a:pPr algn="l">
              <a:lnSpc>
                <a:spcPts val="5796"/>
              </a:lnSpc>
            </a:pPr>
            <a:r>
              <a:rPr lang="en-US" sz="36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 – </a:t>
            </a:r>
            <a:r>
              <a:rPr lang="en-US" sz="3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CHALLENGES / LIMITATIONS</a:t>
            </a:r>
          </a:p>
          <a:p>
            <a:pPr algn="l">
              <a:lnSpc>
                <a:spcPts val="5796"/>
              </a:lnSpc>
            </a:pPr>
            <a:r>
              <a:rPr lang="en-US" sz="36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05 –</a:t>
            </a:r>
            <a:r>
              <a:rPr lang="en-US" sz="3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PLAN FOR NEXT WEEK</a:t>
            </a:r>
          </a:p>
          <a:p>
            <a:pPr algn="l">
              <a:lnSpc>
                <a:spcPts val="5796"/>
              </a:lnSpc>
            </a:pPr>
            <a:r>
              <a:rPr lang="en-US" sz="36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06 –</a:t>
            </a:r>
            <a:r>
              <a:rPr lang="en-US" sz="3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SUGGESTIONS / NOTES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826204" y="9775507"/>
            <a:ext cx="3931920" cy="4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0376F"/>
                </a:solidFill>
                <a:latin typeface="Lato Bold"/>
                <a:ea typeface="Lato Bold"/>
                <a:cs typeface="Lato Bold"/>
                <a:sym typeface="Lato Bold"/>
              </a:rPr>
              <a:t>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46572" y="4733430"/>
            <a:ext cx="11454574" cy="904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 – 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WEEKLY WORK OBJECTIVES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1352" y="9263796"/>
            <a:ext cx="17096623" cy="654148"/>
            <a:chOff x="0" y="0"/>
            <a:chExt cx="22795497" cy="8721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795485" cy="872236"/>
            </a:xfrm>
            <a:custGeom>
              <a:avLst/>
              <a:gdLst/>
              <a:ahLst/>
              <a:cxnLst/>
              <a:rect r="r" b="b" t="t" l="l"/>
              <a:pathLst>
                <a:path h="872236" w="22795485">
                  <a:moveTo>
                    <a:pt x="0" y="0"/>
                  </a:moveTo>
                  <a:lnTo>
                    <a:pt x="22795485" y="0"/>
                  </a:lnTo>
                  <a:lnTo>
                    <a:pt x="22795485" y="872236"/>
                  </a:lnTo>
                  <a:lnTo>
                    <a:pt x="0" y="8722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802817" y="9619574"/>
            <a:ext cx="14903882" cy="68580"/>
            <a:chOff x="0" y="0"/>
            <a:chExt cx="19871842" cy="91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71817" cy="91440"/>
            </a:xfrm>
            <a:custGeom>
              <a:avLst/>
              <a:gdLst/>
              <a:ahLst/>
              <a:cxnLst/>
              <a:rect r="r" b="b" t="t" l="l"/>
              <a:pathLst>
                <a:path h="91440" w="19871817">
                  <a:moveTo>
                    <a:pt x="0" y="91440"/>
                  </a:moveTo>
                  <a:lnTo>
                    <a:pt x="83439" y="0"/>
                  </a:lnTo>
                  <a:lnTo>
                    <a:pt x="19871817" y="0"/>
                  </a:lnTo>
                  <a:lnTo>
                    <a:pt x="19788378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4AA1B3">
                    <a:alpha val="100000"/>
                  </a:srgbClr>
                </a:gs>
                <a:gs pos="23000">
                  <a:srgbClr val="A6E1E1">
                    <a:alpha val="100000"/>
                  </a:srgbClr>
                </a:gs>
                <a:gs pos="100000">
                  <a:srgbClr val="D4F0F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826204" y="9775507"/>
            <a:ext cx="3931920" cy="4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0376F"/>
                </a:solidFill>
                <a:latin typeface="Lato Bold"/>
                <a:ea typeface="Lato Bold"/>
                <a:cs typeface="Lato Bold"/>
                <a:sym typeface="Lato Bold"/>
              </a:rPr>
              <a:t>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9542" y="233582"/>
            <a:ext cx="17088907" cy="54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WEEKLY WORK 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9542" y="1412204"/>
            <a:ext cx="610423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Problem From Last Week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2517" y="2516885"/>
            <a:ext cx="16837649" cy="328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review workflow was functional, but there were lingering issues with UI reliability and data quality for fine-tuning. Main issues identified: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PDF source verification depended heavily on bro</a:t>
            </a:r>
            <a:r>
              <a:rPr lang="en-US" sz="2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wser rendering behavior, and text highlighting was inconsistent.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human-reviewed dataset was still too small for meaningful model fine-tuning.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boundary between accepted, rejected, and uncertain labels needed clearer definitions for reviewers.</a:t>
            </a:r>
          </a:p>
          <a:p>
            <a:pPr algn="l">
              <a:lnSpc>
                <a:spcPts val="32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1352" y="9263796"/>
            <a:ext cx="17096623" cy="654148"/>
            <a:chOff x="0" y="0"/>
            <a:chExt cx="22795497" cy="8721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795485" cy="872236"/>
            </a:xfrm>
            <a:custGeom>
              <a:avLst/>
              <a:gdLst/>
              <a:ahLst/>
              <a:cxnLst/>
              <a:rect r="r" b="b" t="t" l="l"/>
              <a:pathLst>
                <a:path h="872236" w="22795485">
                  <a:moveTo>
                    <a:pt x="0" y="0"/>
                  </a:moveTo>
                  <a:lnTo>
                    <a:pt x="22795485" y="0"/>
                  </a:lnTo>
                  <a:lnTo>
                    <a:pt x="22795485" y="872236"/>
                  </a:lnTo>
                  <a:lnTo>
                    <a:pt x="0" y="8722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802817" y="9619574"/>
            <a:ext cx="14903882" cy="68580"/>
            <a:chOff x="0" y="0"/>
            <a:chExt cx="19871842" cy="91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71817" cy="91440"/>
            </a:xfrm>
            <a:custGeom>
              <a:avLst/>
              <a:gdLst/>
              <a:ahLst/>
              <a:cxnLst/>
              <a:rect r="r" b="b" t="t" l="l"/>
              <a:pathLst>
                <a:path h="91440" w="19871817">
                  <a:moveTo>
                    <a:pt x="0" y="91440"/>
                  </a:moveTo>
                  <a:lnTo>
                    <a:pt x="83439" y="0"/>
                  </a:lnTo>
                  <a:lnTo>
                    <a:pt x="19871817" y="0"/>
                  </a:lnTo>
                  <a:lnTo>
                    <a:pt x="19788378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4AA1B3">
                    <a:alpha val="100000"/>
                  </a:srgbClr>
                </a:gs>
                <a:gs pos="23000">
                  <a:srgbClr val="A6E1E1">
                    <a:alpha val="100000"/>
                  </a:srgbClr>
                </a:gs>
                <a:gs pos="100000">
                  <a:srgbClr val="D4F0F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826204" y="9775507"/>
            <a:ext cx="39319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0376F"/>
                </a:solidFill>
                <a:latin typeface="Lato Bold"/>
                <a:ea typeface="Lato Bold"/>
                <a:cs typeface="Lato Bold"/>
                <a:sym typeface="Lato Bold"/>
              </a:rPr>
              <a:t>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9542" y="233582"/>
            <a:ext cx="17088907" cy="54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WEEKLY WORK 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9542" y="1393242"/>
            <a:ext cx="679293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Goal of this week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2335" y="2266950"/>
            <a:ext cx="17888483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This week focused on improving system reliability and preparing higher-quality revi</a:t>
            </a:r>
            <a:r>
              <a:rPr lang="en-US" sz="26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ewed data for Supervised Fine-Tuning (SFT).</a:t>
            </a:r>
          </a:p>
          <a:p>
            <a:pPr algn="l" marL="582925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Improve PDF evidence rendering and term highlighting.</a:t>
            </a:r>
          </a:p>
          <a:p>
            <a:pPr algn="l" marL="582925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Scale up the review process with more railway manuals.</a:t>
            </a:r>
          </a:p>
          <a:p>
            <a:pPr algn="l" marL="582925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Refine criteria for human validation labels.</a:t>
            </a:r>
          </a:p>
          <a:p>
            <a:pPr algn="l" marL="582925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Finalize the dataset format (CSV/JSONL) for future Qwen fine-tuning.</a:t>
            </a:r>
          </a:p>
          <a:p>
            <a:pPr algn="l">
              <a:lnSpc>
                <a:spcPts val="323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826204" y="9775507"/>
            <a:ext cx="39319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0376F"/>
                </a:solidFill>
                <a:latin typeface="Lato Bold"/>
                <a:ea typeface="Lato Bold"/>
                <a:cs typeface="Lato Bold"/>
                <a:sym typeface="Lato Bold"/>
              </a:rPr>
              <a:t>6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813212" y="4782036"/>
            <a:ext cx="10200732" cy="722928"/>
          </a:xfrm>
          <a:custGeom>
            <a:avLst/>
            <a:gdLst/>
            <a:ahLst/>
            <a:cxnLst/>
            <a:rect r="r" b="b" t="t" l="l"/>
            <a:pathLst>
              <a:path h="722928" w="10200732">
                <a:moveTo>
                  <a:pt x="0" y="0"/>
                </a:moveTo>
                <a:lnTo>
                  <a:pt x="10200732" y="0"/>
                </a:lnTo>
                <a:lnTo>
                  <a:pt x="10200732" y="722928"/>
                </a:lnTo>
                <a:lnTo>
                  <a:pt x="0" y="7229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65880" y="4761252"/>
            <a:ext cx="8964206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 –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TASKS COMPLETED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0035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1352" y="9263796"/>
            <a:ext cx="17096613" cy="654177"/>
            <a:chOff x="0" y="0"/>
            <a:chExt cx="22795484" cy="8722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795485" cy="872236"/>
            </a:xfrm>
            <a:custGeom>
              <a:avLst/>
              <a:gdLst/>
              <a:ahLst/>
              <a:cxnLst/>
              <a:rect r="r" b="b" t="t" l="l"/>
              <a:pathLst>
                <a:path h="872236" w="22795485">
                  <a:moveTo>
                    <a:pt x="0" y="0"/>
                  </a:moveTo>
                  <a:lnTo>
                    <a:pt x="22795485" y="0"/>
                  </a:lnTo>
                  <a:lnTo>
                    <a:pt x="22795485" y="872236"/>
                  </a:lnTo>
                  <a:lnTo>
                    <a:pt x="0" y="8722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802817" y="9619574"/>
            <a:ext cx="14903863" cy="68580"/>
            <a:chOff x="0" y="0"/>
            <a:chExt cx="19871817" cy="91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71817" cy="91440"/>
            </a:xfrm>
            <a:custGeom>
              <a:avLst/>
              <a:gdLst/>
              <a:ahLst/>
              <a:cxnLst/>
              <a:rect r="r" b="b" t="t" l="l"/>
              <a:pathLst>
                <a:path h="91440" w="19871817">
                  <a:moveTo>
                    <a:pt x="0" y="91440"/>
                  </a:moveTo>
                  <a:lnTo>
                    <a:pt x="83439" y="0"/>
                  </a:lnTo>
                  <a:lnTo>
                    <a:pt x="19871817" y="0"/>
                  </a:lnTo>
                  <a:lnTo>
                    <a:pt x="19788378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4AA1B3">
                    <a:alpha val="100000"/>
                  </a:srgbClr>
                </a:gs>
                <a:gs pos="23000">
                  <a:srgbClr val="A6E1E1">
                    <a:alpha val="100000"/>
                  </a:srgbClr>
                </a:gs>
                <a:gs pos="100000">
                  <a:srgbClr val="D4F0F1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00855" y="9618259"/>
            <a:ext cx="16505815" cy="75952"/>
            <a:chOff x="0" y="0"/>
            <a:chExt cx="22007754" cy="1012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007703" cy="101219"/>
            </a:xfrm>
            <a:custGeom>
              <a:avLst/>
              <a:gdLst/>
              <a:ahLst/>
              <a:cxnLst/>
              <a:rect r="r" b="b" t="t" l="l"/>
              <a:pathLst>
                <a:path h="101219" w="22007703">
                  <a:moveTo>
                    <a:pt x="0" y="101219"/>
                  </a:moveTo>
                  <a:lnTo>
                    <a:pt x="92456" y="0"/>
                  </a:lnTo>
                  <a:lnTo>
                    <a:pt x="22007703" y="0"/>
                  </a:lnTo>
                  <a:lnTo>
                    <a:pt x="21915247" y="101219"/>
                  </a:lnTo>
                  <a:close/>
                </a:path>
              </a:pathLst>
            </a:custGeom>
            <a:gradFill rotWithShape="true">
              <a:gsLst>
                <a:gs pos="0">
                  <a:srgbClr val="4AA1B3">
                    <a:alpha val="100000"/>
                  </a:srgbClr>
                </a:gs>
                <a:gs pos="23000">
                  <a:srgbClr val="A6E1E1">
                    <a:alpha val="100000"/>
                  </a:srgbClr>
                </a:gs>
                <a:gs pos="100000">
                  <a:srgbClr val="D4F0F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7643824" y="9746932"/>
            <a:ext cx="1143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0376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7111" y="180997"/>
            <a:ext cx="10626107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</a:t>
            </a:r>
            <a:r>
              <a:rPr lang="en-US" sz="42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em Optimization &amp; Data Processing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9061" y="1595735"/>
            <a:ext cx="15484897" cy="369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Reviewer-Facing Web Workflow Implemented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focus was on refining both the web application interface and the data extraction rules. Implemented tasks: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Optimized PDF evidence rendering to ensure more stable term highlighting inside the viewer.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Uploaded and processed new railway manua</a:t>
            </a:r>
            <a:r>
              <a:rPr lang="en-US" sz="2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ls through </a:t>
            </a:r>
            <a:r>
              <a:rPr lang="en-US" sz="2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web workflow to test system stability.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2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efined and documented clear review criteria for accepted, rejected, and uncertain terms.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Adjusted</a:t>
            </a:r>
            <a:r>
              <a:rPr lang="en-US" sz="2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extraction rules to improve the quality of new candidate terms generated by the baseline.</a:t>
            </a:r>
          </a:p>
          <a:p>
            <a:pPr algn="l" marL="582930" indent="-291465" lvl="1">
              <a:lnSpc>
                <a:spcPts val="3240"/>
              </a:lnSpc>
              <a:buFont typeface="Arial"/>
              <a:buChar char="•"/>
            </a:pPr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Server Deployment: 50% complete; further feature and UX refinements are required before release.</a:t>
            </a:r>
          </a:p>
          <a:p>
            <a:pPr algn="l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826204" y="9775507"/>
            <a:ext cx="39319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0376F"/>
                </a:solidFill>
                <a:latin typeface="Lato Bold"/>
                <a:ea typeface="Lato Bold"/>
                <a:cs typeface="Lato Bold"/>
                <a:sym typeface="Lato Bold"/>
              </a:rPr>
              <a:t>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65880" y="4768234"/>
            <a:ext cx="10757059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 – 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ACHIEVEMENTS / RESULTS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1949" y="9359008"/>
            <a:ext cx="17096623" cy="654148"/>
            <a:chOff x="0" y="0"/>
            <a:chExt cx="22795497" cy="8721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795485" cy="872236"/>
            </a:xfrm>
            <a:custGeom>
              <a:avLst/>
              <a:gdLst/>
              <a:ahLst/>
              <a:cxnLst/>
              <a:rect r="r" b="b" t="t" l="l"/>
              <a:pathLst>
                <a:path h="872236" w="22795485">
                  <a:moveTo>
                    <a:pt x="0" y="0"/>
                  </a:moveTo>
                  <a:lnTo>
                    <a:pt x="22795485" y="0"/>
                  </a:lnTo>
                  <a:lnTo>
                    <a:pt x="22795485" y="872236"/>
                  </a:lnTo>
                  <a:lnTo>
                    <a:pt x="0" y="8722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784567" y="9978866"/>
            <a:ext cx="14903882" cy="68580"/>
            <a:chOff x="0" y="0"/>
            <a:chExt cx="19871842" cy="91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71817" cy="91440"/>
            </a:xfrm>
            <a:custGeom>
              <a:avLst/>
              <a:gdLst/>
              <a:ahLst/>
              <a:cxnLst/>
              <a:rect r="r" b="b" t="t" l="l"/>
              <a:pathLst>
                <a:path h="91440" w="19871817">
                  <a:moveTo>
                    <a:pt x="0" y="91440"/>
                  </a:moveTo>
                  <a:lnTo>
                    <a:pt x="83439" y="0"/>
                  </a:lnTo>
                  <a:lnTo>
                    <a:pt x="19871817" y="0"/>
                  </a:lnTo>
                  <a:lnTo>
                    <a:pt x="19788378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4AA1B3">
                    <a:alpha val="100000"/>
                  </a:srgbClr>
                </a:gs>
                <a:gs pos="23000">
                  <a:srgbClr val="A6E1E1">
                    <a:alpha val="100000"/>
                  </a:srgbClr>
                </a:gs>
                <a:gs pos="100000">
                  <a:srgbClr val="D4F0F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922664" y="5670630"/>
            <a:ext cx="7073700" cy="3558955"/>
          </a:xfrm>
          <a:custGeom>
            <a:avLst/>
            <a:gdLst/>
            <a:ahLst/>
            <a:cxnLst/>
            <a:rect r="r" b="b" t="t" l="l"/>
            <a:pathLst>
              <a:path h="3558955" w="7073700">
                <a:moveTo>
                  <a:pt x="0" y="0"/>
                </a:moveTo>
                <a:lnTo>
                  <a:pt x="7073700" y="0"/>
                </a:lnTo>
                <a:lnTo>
                  <a:pt x="7073700" y="3558955"/>
                </a:lnTo>
                <a:lnTo>
                  <a:pt x="0" y="3558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44244" y="6246295"/>
            <a:ext cx="6552126" cy="2624945"/>
          </a:xfrm>
          <a:custGeom>
            <a:avLst/>
            <a:gdLst/>
            <a:ahLst/>
            <a:cxnLst/>
            <a:rect r="r" b="b" t="t" l="l"/>
            <a:pathLst>
              <a:path h="2624945" w="6552126">
                <a:moveTo>
                  <a:pt x="0" y="0"/>
                </a:moveTo>
                <a:lnTo>
                  <a:pt x="6552126" y="0"/>
                </a:lnTo>
                <a:lnTo>
                  <a:pt x="6552126" y="2624945"/>
                </a:lnTo>
                <a:lnTo>
                  <a:pt x="0" y="26249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826327" y="7008942"/>
            <a:ext cx="1001467" cy="1099651"/>
            <a:chOff x="0" y="0"/>
            <a:chExt cx="812800" cy="8924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92487"/>
            </a:xfrm>
            <a:custGeom>
              <a:avLst/>
              <a:gdLst/>
              <a:ahLst/>
              <a:cxnLst/>
              <a:rect r="r" b="b" t="t" l="l"/>
              <a:pathLst>
                <a:path h="892487" w="812800">
                  <a:moveTo>
                    <a:pt x="812800" y="446244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89287"/>
                  </a:lnTo>
                  <a:lnTo>
                    <a:pt x="406400" y="689287"/>
                  </a:lnTo>
                  <a:lnTo>
                    <a:pt x="406400" y="892487"/>
                  </a:lnTo>
                  <a:lnTo>
                    <a:pt x="812800" y="446244"/>
                  </a:ln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3675"/>
              <a:ext cx="711200" cy="495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826204" y="9775507"/>
            <a:ext cx="39319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0376F"/>
                </a:solidFill>
                <a:latin typeface="Lato Bold"/>
                <a:ea typeface="Lato Bold"/>
                <a:cs typeface="Lato Bold"/>
                <a:sym typeface="Lato Bold"/>
              </a:rPr>
              <a:t>10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9542" y="233582"/>
            <a:ext cx="6145898" cy="10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Reviewed </a:t>
            </a:r>
            <a:r>
              <a:rPr lang="en-US" sz="36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Terminology Catalog</a:t>
            </a:r>
          </a:p>
          <a:p>
            <a:pPr algn="l">
              <a:lnSpc>
                <a:spcPts val="3888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95738" y="1397830"/>
            <a:ext cx="15097198" cy="451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Str</a:t>
            </a:r>
            <a:r>
              <a:rPr lang="en-US" b="true" sz="26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uctured Dataset Preparation Completed </a:t>
            </a:r>
          </a:p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output from the web system has been successfully transformed into a dataset ready for the next phase. </a:t>
            </a:r>
          </a:p>
          <a:p>
            <a:pPr algn="l" marL="582925" indent="-291463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Increased Dataset Size: Significantly increased the total number of reviewed terminology records.</a:t>
            </a:r>
          </a:p>
          <a:p>
            <a:pPr algn="l" marL="582925" indent="-291463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Export Validation: Successfully validated the CSV and JSONL export formats, ens</a:t>
            </a:r>
            <a:r>
              <a:rPr lang="en-US" sz="26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uring they</a:t>
            </a:r>
            <a:r>
              <a:rPr lang="en-US" sz="26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meet the requirements for SFT dataset construction.</a:t>
            </a:r>
          </a:p>
          <a:p>
            <a:pPr algn="l" marL="582925" indent="-291463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Bas</a:t>
            </a:r>
            <a:r>
              <a:rPr lang="en-US" sz="26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eline Evaluation: Completed the comparison between the baseline extraction output and the human-reviewed results.</a:t>
            </a:r>
          </a:p>
          <a:p>
            <a:pPr algn="l" marL="582925" indent="-291463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Readiness: Prepared a cleaner, high-quality dataset version ready for future Qwen fine-tuning.</a:t>
            </a:r>
          </a:p>
          <a:p>
            <a:pPr algn="l">
              <a:lnSpc>
                <a:spcPts val="323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1949" y="9359008"/>
            <a:ext cx="17096623" cy="654148"/>
            <a:chOff x="0" y="0"/>
            <a:chExt cx="22795497" cy="8721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795485" cy="872236"/>
            </a:xfrm>
            <a:custGeom>
              <a:avLst/>
              <a:gdLst/>
              <a:ahLst/>
              <a:cxnLst/>
              <a:rect r="r" b="b" t="t" l="l"/>
              <a:pathLst>
                <a:path h="872236" w="22795485">
                  <a:moveTo>
                    <a:pt x="0" y="0"/>
                  </a:moveTo>
                  <a:lnTo>
                    <a:pt x="22795485" y="0"/>
                  </a:lnTo>
                  <a:lnTo>
                    <a:pt x="22795485" y="872236"/>
                  </a:lnTo>
                  <a:lnTo>
                    <a:pt x="0" y="8722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784567" y="9978866"/>
            <a:ext cx="14903882" cy="68580"/>
            <a:chOff x="0" y="0"/>
            <a:chExt cx="19871842" cy="91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71817" cy="91440"/>
            </a:xfrm>
            <a:custGeom>
              <a:avLst/>
              <a:gdLst/>
              <a:ahLst/>
              <a:cxnLst/>
              <a:rect r="r" b="b" t="t" l="l"/>
              <a:pathLst>
                <a:path h="91440" w="19871817">
                  <a:moveTo>
                    <a:pt x="0" y="91440"/>
                  </a:moveTo>
                  <a:lnTo>
                    <a:pt x="83439" y="0"/>
                  </a:lnTo>
                  <a:lnTo>
                    <a:pt x="19871817" y="0"/>
                  </a:lnTo>
                  <a:lnTo>
                    <a:pt x="19788378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4AA1B3">
                    <a:alpha val="100000"/>
                  </a:srgbClr>
                </a:gs>
                <a:gs pos="23000">
                  <a:srgbClr val="A6E1E1">
                    <a:alpha val="100000"/>
                  </a:srgbClr>
                </a:gs>
                <a:gs pos="100000">
                  <a:srgbClr val="D4F0F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826204" y="9775507"/>
            <a:ext cx="39319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0376F"/>
                </a:solidFill>
                <a:latin typeface="Lato Bold"/>
                <a:ea typeface="Lato Bold"/>
                <a:cs typeface="Lato Bold"/>
                <a:sym typeface="Lato Bold"/>
              </a:rPr>
              <a:t>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9542" y="233582"/>
            <a:ext cx="6145857" cy="1007364"/>
          </a:xfrm>
          <a:prstGeom prst="rect">
            <a:avLst/>
          </a:prstGeom>
        </p:spPr>
        <p:txBody>
          <a:bodyPr anchor="ctr" rtlCol="false" tIns="54864" lIns="109728" bIns="54864" rIns="109728">
            <a:spAutoFit/>
          </a:bodyPr>
          <a:lstStyle/>
          <a:p>
            <a:pPr algn="l">
              <a:lnSpc>
                <a:spcPts val="3888"/>
              </a:lnSpc>
            </a:pPr>
            <a:r>
              <a:rPr sz="3000" b="1">
                <a:solidFill>
                  <a:srgbClr val="FFFFFF"/>
                </a:solidFill>
                <a:latin typeface="Lato"/>
              </a:rPr>
              <a:t>How is the BERT Score Calculated?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6824960" cy="411480"/>
          </a:xfrm>
          <a:prstGeom prst="rect">
            <a:avLst/>
          </a:prstGeom>
          <a:noFill/>
        </p:spPr>
        <p:txBody>
          <a:bodyPr wrap="none" lIns="109728" rIns="109728" tIns="54864" bIns="54864" anchor="ctr">
            <a:spAutoFit/>
          </a:bodyPr>
          <a:lstStyle/>
          <a:p>
            <a:pPr algn="l"/>
            <a:r>
              <a:rPr sz="1800" b="0">
                <a:solidFill>
                  <a:srgbClr val="20313D"/>
                </a:solidFill>
                <a:latin typeface="Lato"/>
              </a:rPr>
              <a:t>GiNZA proposes candidates; BERT calculates the score from the source sentence and candidate pair.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965960"/>
            <a:ext cx="3657600" cy="914400"/>
          </a:xfrm>
          <a:prstGeom prst="roundRect">
            <a:avLst/>
          </a:prstGeom>
          <a:solidFill>
            <a:srgbClr val="DEEEF5"/>
          </a:solidFill>
          <a:ln>
            <a:solidFill>
              <a:srgbClr val="1E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800" b="1">
                <a:solidFill>
                  <a:srgbClr val="12202B"/>
                </a:solidFill>
                <a:latin typeface="Lato"/>
              </a:rPr>
              <a:t>1. INPUT
Sentence + candidate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2212848"/>
            <a:ext cx="566928" cy="365760"/>
          </a:xfrm>
          <a:prstGeom prst="rect">
            <a:avLst/>
          </a:prstGeom>
          <a:noFill/>
        </p:spPr>
        <p:txBody>
          <a:bodyPr wrap="none" lIns="109728" rIns="109728" tIns="54864" bIns="54864" anchor="ctr">
            <a:spAutoFit/>
          </a:bodyPr>
          <a:lstStyle/>
          <a:p>
            <a:pPr algn="ctr"/>
            <a:r>
              <a:rPr sz="2600" b="1">
                <a:solidFill>
                  <a:srgbClr val="205F91"/>
                </a:solidFill>
                <a:latin typeface="Lato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1965960"/>
            <a:ext cx="3657600" cy="914400"/>
          </a:xfrm>
          <a:prstGeom prst="roundRect">
            <a:avLst/>
          </a:prstGeom>
          <a:solidFill>
            <a:srgbClr val="E1EFE7"/>
          </a:solidFill>
          <a:ln>
            <a:solidFill>
              <a:srgbClr val="1E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800" b="1">
                <a:solidFill>
                  <a:srgbClr val="12202B"/>
                </a:solidFill>
                <a:latin typeface="Lato"/>
              </a:rPr>
              <a:t>2. BERT
Two raw logits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4232" y="2212848"/>
            <a:ext cx="566928" cy="365760"/>
          </a:xfrm>
          <a:prstGeom prst="rect">
            <a:avLst/>
          </a:prstGeom>
          <a:noFill/>
        </p:spPr>
        <p:txBody>
          <a:bodyPr wrap="none" lIns="109728" rIns="109728" tIns="54864" bIns="54864" anchor="ctr">
            <a:spAutoFit/>
          </a:bodyPr>
          <a:lstStyle/>
          <a:p>
            <a:pPr algn="ctr"/>
            <a:r>
              <a:rPr sz="2600" b="1">
                <a:solidFill>
                  <a:srgbClr val="205F91"/>
                </a:solidFill>
                <a:latin typeface="Lato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965960"/>
            <a:ext cx="3657600" cy="914400"/>
          </a:xfrm>
          <a:prstGeom prst="roundRect">
            <a:avLst/>
          </a:prstGeom>
          <a:solidFill>
            <a:srgbClr val="FFF2D3"/>
          </a:solidFill>
          <a:ln>
            <a:solidFill>
              <a:srgbClr val="1E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800" b="1">
                <a:solidFill>
                  <a:srgbClr val="12202B"/>
                </a:solidFill>
                <a:latin typeface="Lato"/>
              </a:rPr>
              <a:t>3. SOFTMAX
Normalizes logits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03352" y="2212848"/>
            <a:ext cx="566928" cy="365760"/>
          </a:xfrm>
          <a:prstGeom prst="rect">
            <a:avLst/>
          </a:prstGeom>
          <a:noFill/>
        </p:spPr>
        <p:txBody>
          <a:bodyPr wrap="none" lIns="109728" rIns="109728" tIns="54864" bIns="54864" anchor="ctr">
            <a:spAutoFit/>
          </a:bodyPr>
          <a:lstStyle/>
          <a:p>
            <a:pPr algn="ctr"/>
            <a:r>
              <a:rPr sz="2600" b="1">
                <a:solidFill>
                  <a:srgbClr val="205F91"/>
                </a:solidFill>
                <a:latin typeface="Lato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61720" y="1965960"/>
            <a:ext cx="3657600" cy="914400"/>
          </a:xfrm>
          <a:prstGeom prst="roundRect">
            <a:avLst/>
          </a:prstGeom>
          <a:solidFill>
            <a:srgbClr val="EDE5F5"/>
          </a:solidFill>
          <a:ln>
            <a:solidFill>
              <a:srgbClr val="1E4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1800" b="1">
                <a:solidFill>
                  <a:srgbClr val="12202B"/>
                </a:solidFill>
                <a:latin typeface="Lato"/>
              </a:rPr>
              <a:t>4. OUTPUT
Score = P(TERM)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246120"/>
            <a:ext cx="2743200" cy="320040"/>
          </a:xfrm>
          <a:prstGeom prst="rect">
            <a:avLst/>
          </a:prstGeom>
          <a:noFill/>
        </p:spPr>
        <p:txBody>
          <a:bodyPr wrap="none" lIns="109728" rIns="109728" tIns="54864" bIns="54864" anchor="ctr">
            <a:spAutoFit/>
          </a:bodyPr>
          <a:lstStyle/>
          <a:p>
            <a:pPr algn="l"/>
            <a:r>
              <a:rPr sz="1200" b="1">
                <a:solidFill>
                  <a:srgbClr val="6A747B"/>
                </a:solidFill>
                <a:latin typeface="Lato"/>
              </a:rPr>
              <a:t>SOFTMAX FORMULA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566160"/>
            <a:ext cx="16642080" cy="594360"/>
          </a:xfrm>
          <a:prstGeom prst="rect">
            <a:avLst/>
          </a:prstGeom>
          <a:noFill/>
        </p:spPr>
        <p:txBody>
          <a:bodyPr wrap="none" lIns="109728" rIns="109728" tIns="54864" bIns="54864" anchor="ctr">
            <a:spAutoFit/>
          </a:bodyPr>
          <a:lstStyle/>
          <a:p>
            <a:pPr algn="ctr"/>
            <a:r>
              <a:rPr sz="2300" b="1">
                <a:solidFill>
                  <a:srgbClr val="12202B"/>
                </a:solidFill>
                <a:latin typeface="Lato"/>
              </a:rPr>
              <a:t>score = P(TERM) = exp(z_TERM) / [exp(z_TERM) + exp(z_NOT_TERM)]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480560"/>
            <a:ext cx="16550640" cy="914400"/>
          </a:xfrm>
          <a:prstGeom prst="roundRect">
            <a:avLst/>
          </a:prstGeom>
          <a:solidFill>
            <a:srgbClr val="E8F4EF"/>
          </a:solidFill>
          <a:ln>
            <a:solidFill>
              <a:srgbClr val="007A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/>
            <a:r>
              <a:rPr sz="2100" b="1">
                <a:solidFill>
                  <a:srgbClr val="005B3C"/>
                </a:solidFill>
                <a:latin typeface="Lato"/>
              </a:rPr>
              <a:t>0.9998 means the TERM logit was far higher than NOT_TERM for this sentence–candidate pair.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6459200" cy="640080"/>
          </a:xfrm>
          <a:prstGeom prst="rect">
            <a:avLst/>
          </a:prstGeom>
          <a:noFill/>
        </p:spPr>
        <p:txBody>
          <a:bodyPr wrap="none" lIns="109728" rIns="109728" tIns="54864" bIns="54864" anchor="ctr">
            <a:spAutoFit/>
          </a:bodyPr>
          <a:lstStyle/>
          <a:p>
            <a:pPr algn="ctr"/>
            <a:r>
              <a:rPr sz="1700" b="0">
                <a:solidFill>
                  <a:srgbClr val="32404A"/>
                </a:solidFill>
                <a:latin typeface="Lato"/>
              </a:rPr>
              <a:t>The model learned this distinction from labelled TERM / NOT_TERM examples. The score ranks candidates; a human reviewer makes the final decision.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3330" y="9359008"/>
            <a:ext cx="17096623" cy="654148"/>
            <a:chOff x="0" y="0"/>
            <a:chExt cx="22795497" cy="8721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795485" cy="872236"/>
            </a:xfrm>
            <a:custGeom>
              <a:avLst/>
              <a:gdLst/>
              <a:ahLst/>
              <a:cxnLst/>
              <a:rect r="r" b="b" t="t" l="l"/>
              <a:pathLst>
                <a:path h="872236" w="22795485">
                  <a:moveTo>
                    <a:pt x="0" y="0"/>
                  </a:moveTo>
                  <a:lnTo>
                    <a:pt x="22795485" y="0"/>
                  </a:lnTo>
                  <a:lnTo>
                    <a:pt x="22795485" y="872236"/>
                  </a:lnTo>
                  <a:lnTo>
                    <a:pt x="0" y="8722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784567" y="9978866"/>
            <a:ext cx="14903882" cy="68580"/>
            <a:chOff x="0" y="0"/>
            <a:chExt cx="19871842" cy="91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71817" cy="91440"/>
            </a:xfrm>
            <a:custGeom>
              <a:avLst/>
              <a:gdLst/>
              <a:ahLst/>
              <a:cxnLst/>
              <a:rect r="r" b="b" t="t" l="l"/>
              <a:pathLst>
                <a:path h="91440" w="19871817">
                  <a:moveTo>
                    <a:pt x="0" y="91440"/>
                  </a:moveTo>
                  <a:lnTo>
                    <a:pt x="83439" y="0"/>
                  </a:lnTo>
                  <a:lnTo>
                    <a:pt x="19871817" y="0"/>
                  </a:lnTo>
                  <a:lnTo>
                    <a:pt x="19788378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4AA1B3">
                    <a:alpha val="100000"/>
                  </a:srgbClr>
                </a:gs>
                <a:gs pos="23000">
                  <a:srgbClr val="A6E1E1">
                    <a:alpha val="100000"/>
                  </a:srgbClr>
                </a:gs>
                <a:gs pos="100000">
                  <a:srgbClr val="D4F0F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896725" y="4930249"/>
            <a:ext cx="8513732" cy="4448425"/>
          </a:xfrm>
          <a:custGeom>
            <a:avLst/>
            <a:gdLst/>
            <a:ahLst/>
            <a:cxnLst/>
            <a:rect r="r" b="b" t="t" l="l"/>
            <a:pathLst>
              <a:path h="4448425" w="8513732">
                <a:moveTo>
                  <a:pt x="0" y="0"/>
                </a:moveTo>
                <a:lnTo>
                  <a:pt x="8513732" y="0"/>
                </a:lnTo>
                <a:lnTo>
                  <a:pt x="8513732" y="4448424"/>
                </a:lnTo>
                <a:lnTo>
                  <a:pt x="0" y="44484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826204" y="9775507"/>
            <a:ext cx="39319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0376F"/>
                </a:solidFill>
                <a:latin typeface="Lato Bold"/>
                <a:ea typeface="Lato Bold"/>
                <a:cs typeface="Lato Bold"/>
                <a:sym typeface="Lato Bold"/>
              </a:rPr>
              <a:t>11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9542" y="233582"/>
            <a:ext cx="6145898" cy="1007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Reviewed </a:t>
            </a:r>
            <a:r>
              <a:rPr lang="en-US" sz="36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Terminology Catalog</a:t>
            </a:r>
          </a:p>
          <a:p>
            <a:pPr algn="l">
              <a:lnSpc>
                <a:spcPts val="388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12107" y="1359526"/>
            <a:ext cx="12445321" cy="4398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b="true" sz="2225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</a:t>
            </a:r>
            <a:r>
              <a:rPr lang="en-US" b="true" sz="2225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tructured Draft Terminology Records Generated</a:t>
            </a:r>
          </a:p>
          <a:p>
            <a:pPr algn="l">
              <a:lnSpc>
                <a:spcPts val="2670"/>
              </a:lnSpc>
              <a:spcBef>
                <a:spcPct val="0"/>
              </a:spcBef>
            </a:pPr>
          </a:p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222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Reviewed Terminology Management</a:t>
            </a:r>
          </a:p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222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 reviewed terminology catalog was added to manage human decisions after candidate extraction.</a:t>
            </a:r>
          </a:p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222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catalog supports:</a:t>
            </a:r>
          </a:p>
          <a:p>
            <a:pPr algn="l" marL="480532" indent="-240266" lvl="1">
              <a:lnSpc>
                <a:spcPts val="2670"/>
              </a:lnSpc>
              <a:spcBef>
                <a:spcPct val="0"/>
              </a:spcBef>
              <a:buFont typeface="Arial"/>
              <a:buChar char="•"/>
            </a:pPr>
            <a:r>
              <a:rPr lang="en-US" sz="222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Viewing approved, rejected, uncertain, and reviewed terms.</a:t>
            </a:r>
          </a:p>
          <a:p>
            <a:pPr algn="l" marL="480532" indent="-240266" lvl="1">
              <a:lnSpc>
                <a:spcPts val="2670"/>
              </a:lnSpc>
              <a:spcBef>
                <a:spcPct val="0"/>
              </a:spcBef>
              <a:buFont typeface="Arial"/>
              <a:buChar char="•"/>
            </a:pPr>
            <a:r>
              <a:rPr lang="en-US" sz="222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Searching reviewed terms.</a:t>
            </a:r>
          </a:p>
          <a:p>
            <a:pPr algn="l" marL="480532" indent="-240266" lvl="1">
              <a:lnSpc>
                <a:spcPts val="2670"/>
              </a:lnSpc>
              <a:spcBef>
                <a:spcPct val="0"/>
              </a:spcBef>
              <a:buFont typeface="Arial"/>
              <a:buChar char="•"/>
            </a:pPr>
            <a:r>
              <a:rPr lang="en-US" sz="222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Checking source occurrences.</a:t>
            </a:r>
          </a:p>
          <a:p>
            <a:pPr algn="l" marL="480532" indent="-240266" lvl="1">
              <a:lnSpc>
                <a:spcPts val="2670"/>
              </a:lnSpc>
              <a:spcBef>
                <a:spcPct val="0"/>
              </a:spcBef>
              <a:buFont typeface="Arial"/>
              <a:buChar char="•"/>
            </a:pPr>
            <a:r>
              <a:rPr lang="en-US" sz="222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Viewing review notes.</a:t>
            </a:r>
          </a:p>
          <a:p>
            <a:pPr algn="l" marL="480532" indent="-240266" lvl="1">
              <a:lnSpc>
                <a:spcPts val="2670"/>
              </a:lnSpc>
              <a:spcBef>
                <a:spcPct val="0"/>
              </a:spcBef>
              <a:buFont typeface="Arial"/>
              <a:buChar char="•"/>
            </a:pPr>
            <a:r>
              <a:rPr lang="en-US" sz="222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Viewing reviewer name and review time.</a:t>
            </a:r>
          </a:p>
          <a:p>
            <a:pPr algn="l" marL="480532" indent="-240266" lvl="1">
              <a:lnSpc>
                <a:spcPts val="2670"/>
              </a:lnSpc>
              <a:spcBef>
                <a:spcPct val="0"/>
              </a:spcBef>
              <a:buFont typeface="Arial"/>
              <a:buChar char="•"/>
            </a:pPr>
            <a:r>
              <a:rPr lang="en-US" sz="222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Checking review history for auditability.</a:t>
            </a:r>
          </a:p>
          <a:p>
            <a:pPr algn="l" marL="480532" indent="-240266" lvl="1">
              <a:lnSpc>
                <a:spcPts val="2670"/>
              </a:lnSpc>
              <a:spcBef>
                <a:spcPct val="0"/>
              </a:spcBef>
              <a:buFont typeface="Arial"/>
              <a:buChar char="•"/>
            </a:pPr>
            <a:r>
              <a:rPr lang="en-US" sz="222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Exporting reviewed data as CSV and JSONL</a:t>
            </a:r>
          </a:p>
          <a:p>
            <a:pPr algn="l">
              <a:lnSpc>
                <a:spcPts val="267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826204" y="9775507"/>
            <a:ext cx="39319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0376F"/>
                </a:solidFill>
                <a:latin typeface="Lato Bold"/>
                <a:ea typeface="Lato Bold"/>
                <a:cs typeface="Lato Bold"/>
                <a:sym typeface="Lato Bold"/>
              </a:rPr>
              <a:t>14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28808" y="4768234"/>
            <a:ext cx="11787359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 – 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CHALLENGES / LIMITATIONS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1352" y="9263796"/>
            <a:ext cx="17096623" cy="654148"/>
            <a:chOff x="0" y="0"/>
            <a:chExt cx="22795497" cy="8721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795485" cy="872236"/>
            </a:xfrm>
            <a:custGeom>
              <a:avLst/>
              <a:gdLst/>
              <a:ahLst/>
              <a:cxnLst/>
              <a:rect r="r" b="b" t="t" l="l"/>
              <a:pathLst>
                <a:path h="872236" w="22795485">
                  <a:moveTo>
                    <a:pt x="0" y="0"/>
                  </a:moveTo>
                  <a:lnTo>
                    <a:pt x="22795485" y="0"/>
                  </a:lnTo>
                  <a:lnTo>
                    <a:pt x="22795485" y="872236"/>
                  </a:lnTo>
                  <a:lnTo>
                    <a:pt x="0" y="8722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802817" y="9619574"/>
            <a:ext cx="14903882" cy="68580"/>
            <a:chOff x="0" y="0"/>
            <a:chExt cx="19871842" cy="91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71817" cy="91440"/>
            </a:xfrm>
            <a:custGeom>
              <a:avLst/>
              <a:gdLst/>
              <a:ahLst/>
              <a:cxnLst/>
              <a:rect r="r" b="b" t="t" l="l"/>
              <a:pathLst>
                <a:path h="91440" w="19871817">
                  <a:moveTo>
                    <a:pt x="0" y="91440"/>
                  </a:moveTo>
                  <a:lnTo>
                    <a:pt x="83439" y="0"/>
                  </a:lnTo>
                  <a:lnTo>
                    <a:pt x="19871817" y="0"/>
                  </a:lnTo>
                  <a:lnTo>
                    <a:pt x="19788378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4AA1B3">
                    <a:alpha val="100000"/>
                  </a:srgbClr>
                </a:gs>
                <a:gs pos="23000">
                  <a:srgbClr val="A6E1E1">
                    <a:alpha val="100000"/>
                  </a:srgbClr>
                </a:gs>
                <a:gs pos="100000">
                  <a:srgbClr val="D4F0F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826204" y="9775507"/>
            <a:ext cx="39319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0376F"/>
                </a:solidFill>
                <a:latin typeface="Lato Bold"/>
                <a:ea typeface="Lato Bold"/>
                <a:cs typeface="Lato Bold"/>
                <a:sym typeface="Lato Bold"/>
              </a:rPr>
              <a:t>15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9542" y="233582"/>
            <a:ext cx="17088907" cy="54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CHALLENGES / LIMITATIONS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2419" y="1647302"/>
            <a:ext cx="15607741" cy="543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Ev</a:t>
            </a:r>
            <a:r>
              <a:rPr lang="en-US" sz="3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 with refined criteria, determining the correct label for highly specific "uncertain" terms still requires deep domain knowledge from railway experts.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Compa</a:t>
            </a:r>
            <a:r>
              <a:rPr lang="en-US" sz="3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ring baseline output with reviewed results shows that handling abbreviat</a:t>
            </a:r>
            <a:r>
              <a:rPr lang="en-US" sz="3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ions and compound Japanese terms is still a challenge for the initial extractor.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Transiti</a:t>
            </a:r>
            <a:r>
              <a:rPr lang="en-US" sz="3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on</a:t>
            </a:r>
            <a:r>
              <a:rPr lang="en-US" sz="3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ing from data preparation to the actual Supervised Fine-Tuning (SFT) phase requires setting up proper evaluation metrics for the upcoming model.</a:t>
            </a:r>
          </a:p>
          <a:p>
            <a:pPr algn="l">
              <a:lnSpc>
                <a:spcPts val="432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826204" y="9775507"/>
            <a:ext cx="39319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0376F"/>
                </a:solidFill>
                <a:latin typeface="Lato Bold"/>
                <a:ea typeface="Lato Bold"/>
                <a:cs typeface="Lato Bold"/>
                <a:sym typeface="Lato Bold"/>
              </a:rPr>
              <a:t>16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84415" y="4768234"/>
            <a:ext cx="8964206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05 –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PLAN FOR NEXT WEEK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1352" y="9263796"/>
            <a:ext cx="17096623" cy="654148"/>
            <a:chOff x="0" y="0"/>
            <a:chExt cx="22795497" cy="8721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795485" cy="872236"/>
            </a:xfrm>
            <a:custGeom>
              <a:avLst/>
              <a:gdLst/>
              <a:ahLst/>
              <a:cxnLst/>
              <a:rect r="r" b="b" t="t" l="l"/>
              <a:pathLst>
                <a:path h="872236" w="22795485">
                  <a:moveTo>
                    <a:pt x="0" y="0"/>
                  </a:moveTo>
                  <a:lnTo>
                    <a:pt x="22795485" y="0"/>
                  </a:lnTo>
                  <a:lnTo>
                    <a:pt x="22795485" y="872236"/>
                  </a:lnTo>
                  <a:lnTo>
                    <a:pt x="0" y="8722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802817" y="9619574"/>
            <a:ext cx="14903882" cy="68580"/>
            <a:chOff x="0" y="0"/>
            <a:chExt cx="19871842" cy="91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71817" cy="91440"/>
            </a:xfrm>
            <a:custGeom>
              <a:avLst/>
              <a:gdLst/>
              <a:ahLst/>
              <a:cxnLst/>
              <a:rect r="r" b="b" t="t" l="l"/>
              <a:pathLst>
                <a:path h="91440" w="19871817">
                  <a:moveTo>
                    <a:pt x="0" y="91440"/>
                  </a:moveTo>
                  <a:lnTo>
                    <a:pt x="83439" y="0"/>
                  </a:lnTo>
                  <a:lnTo>
                    <a:pt x="19871817" y="0"/>
                  </a:lnTo>
                  <a:lnTo>
                    <a:pt x="19788378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4AA1B3">
                    <a:alpha val="100000"/>
                  </a:srgbClr>
                </a:gs>
                <a:gs pos="23000">
                  <a:srgbClr val="A6E1E1">
                    <a:alpha val="100000"/>
                  </a:srgbClr>
                </a:gs>
                <a:gs pos="100000">
                  <a:srgbClr val="D4F0F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826204" y="9775507"/>
            <a:ext cx="39319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0376F"/>
                </a:solidFill>
                <a:latin typeface="Lato Bold"/>
                <a:ea typeface="Lato Bold"/>
                <a:cs typeface="Lato Bold"/>
                <a:sym typeface="Lato Bold"/>
              </a:rPr>
              <a:t>17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9542" y="233582"/>
            <a:ext cx="17088907" cy="54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PLAN FOR NEXT WEEK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1789" y="1550770"/>
            <a:ext cx="16508828" cy="735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7"/>
              </a:lnSpc>
            </a:pPr>
            <a:r>
              <a:rPr lang="en-US" sz="374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Next week, the priority will be completing the web release and enabling client review, while preparing for initial model training and continued data expansion. Planned tasks:</a:t>
            </a:r>
          </a:p>
          <a:p>
            <a:pPr algn="l" marL="809181" indent="-404591" lvl="1">
              <a:lnSpc>
                <a:spcPts val="4497"/>
              </a:lnSpc>
              <a:buFont typeface="Arial"/>
              <a:buChar char="•"/>
            </a:pPr>
            <a:r>
              <a:rPr lang="en-US" sz="374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Complete server deployment by Sunday, August 2, and enable the client to begin reviewing terms in the web system.</a:t>
            </a:r>
          </a:p>
          <a:p>
            <a:pPr algn="l" marL="809181" indent="-404591" lvl="1">
              <a:lnSpc>
                <a:spcPts val="4497"/>
              </a:lnSpc>
              <a:buFont typeface="Arial"/>
              <a:buChar char="•"/>
            </a:pPr>
            <a:r>
              <a:rPr lang="en-US" sz="374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Run the first experimental fine-tuning job with the newly prepared JSONL dataset.</a:t>
            </a:r>
          </a:p>
          <a:p>
            <a:pPr algn="l" marL="809181" indent="-404591" lvl="1">
              <a:lnSpc>
                <a:spcPts val="4497"/>
              </a:lnSpc>
              <a:buFont typeface="Arial"/>
              <a:buChar char="•"/>
            </a:pPr>
            <a:r>
              <a:rPr lang="en-US" sz="374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Defin</a:t>
            </a:r>
            <a:r>
              <a:rPr lang="en-US" sz="374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 evaluation metrics to measure the fine-tuned model's performance against the current baseline.</a:t>
            </a:r>
          </a:p>
          <a:p>
            <a:pPr algn="l" marL="809181" indent="-404591" lvl="1">
              <a:lnSpc>
                <a:spcPts val="4497"/>
              </a:lnSpc>
              <a:buFont typeface="Arial"/>
              <a:buChar char="•"/>
            </a:pPr>
            <a:r>
              <a:rPr lang="en-US" sz="374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Continu</a:t>
            </a:r>
            <a:r>
              <a:rPr lang="en-US" sz="374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 reviewing terms from newly added manuals to further expand the training dataset.</a:t>
            </a:r>
          </a:p>
          <a:p>
            <a:pPr algn="l" marL="809181" indent="-404591" lvl="1">
              <a:lnSpc>
                <a:spcPts val="4497"/>
              </a:lnSpc>
              <a:buFont typeface="Arial"/>
              <a:buChar char="•"/>
            </a:pPr>
            <a:r>
              <a:rPr lang="en-US" sz="374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</a:t>
            </a:r>
            <a:r>
              <a:rPr lang="en-US" sz="374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alyze edge cases in the "uncertain" category to improve extraction guidelines.</a:t>
            </a:r>
          </a:p>
          <a:p>
            <a:pPr algn="l">
              <a:lnSpc>
                <a:spcPts val="4497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826204" y="9775507"/>
            <a:ext cx="39319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0376F"/>
                </a:solidFill>
                <a:latin typeface="Lato Bold"/>
                <a:ea typeface="Lato Bold"/>
                <a:cs typeface="Lato Bold"/>
                <a:sym typeface="Lato Bold"/>
              </a:rPr>
              <a:t>18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47344" y="4768234"/>
            <a:ext cx="8964206" cy="814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06 –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SUGGESTIONS / NOTES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1352" y="9263796"/>
            <a:ext cx="17096623" cy="654148"/>
            <a:chOff x="0" y="0"/>
            <a:chExt cx="22795497" cy="8721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795485" cy="872236"/>
            </a:xfrm>
            <a:custGeom>
              <a:avLst/>
              <a:gdLst/>
              <a:ahLst/>
              <a:cxnLst/>
              <a:rect r="r" b="b" t="t" l="l"/>
              <a:pathLst>
                <a:path h="872236" w="22795485">
                  <a:moveTo>
                    <a:pt x="0" y="0"/>
                  </a:moveTo>
                  <a:lnTo>
                    <a:pt x="22795485" y="0"/>
                  </a:lnTo>
                  <a:lnTo>
                    <a:pt x="22795485" y="872236"/>
                  </a:lnTo>
                  <a:lnTo>
                    <a:pt x="0" y="8722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802817" y="9619574"/>
            <a:ext cx="14903882" cy="68580"/>
            <a:chOff x="0" y="0"/>
            <a:chExt cx="19871842" cy="91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871817" cy="91440"/>
            </a:xfrm>
            <a:custGeom>
              <a:avLst/>
              <a:gdLst/>
              <a:ahLst/>
              <a:cxnLst/>
              <a:rect r="r" b="b" t="t" l="l"/>
              <a:pathLst>
                <a:path h="91440" w="19871817">
                  <a:moveTo>
                    <a:pt x="0" y="91440"/>
                  </a:moveTo>
                  <a:lnTo>
                    <a:pt x="83439" y="0"/>
                  </a:lnTo>
                  <a:lnTo>
                    <a:pt x="19871817" y="0"/>
                  </a:lnTo>
                  <a:lnTo>
                    <a:pt x="19788378" y="91440"/>
                  </a:lnTo>
                  <a:close/>
                </a:path>
              </a:pathLst>
            </a:custGeom>
            <a:gradFill rotWithShape="true">
              <a:gsLst>
                <a:gs pos="0">
                  <a:srgbClr val="4AA1B3">
                    <a:alpha val="100000"/>
                  </a:srgbClr>
                </a:gs>
                <a:gs pos="23000">
                  <a:srgbClr val="A6E1E1">
                    <a:alpha val="100000"/>
                  </a:srgbClr>
                </a:gs>
                <a:gs pos="100000">
                  <a:srgbClr val="D4F0F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826204" y="9775507"/>
            <a:ext cx="39319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0376F"/>
                </a:solidFill>
                <a:latin typeface="Lato Bold"/>
                <a:ea typeface="Lato Bold"/>
                <a:cs typeface="Lato Bold"/>
                <a:sym typeface="Lato Bold"/>
              </a:rPr>
              <a:t>19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9542" y="233582"/>
            <a:ext cx="17088907" cy="54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SUGGESTIONS / NOTES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4791" y="1930327"/>
            <a:ext cx="14260030" cy="931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Currently, we do not have additional suggestions.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07429" y="4719911"/>
            <a:ext cx="11180571" cy="1686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3"/>
              </a:lnSpc>
            </a:pPr>
            <a:r>
              <a:rPr lang="en-US" sz="4707" b="true">
                <a:solidFill>
                  <a:srgbClr val="C00000"/>
                </a:solidFill>
                <a:latin typeface="Lato Bold"/>
                <a:ea typeface="Lato Bold"/>
                <a:cs typeface="Lato Bold"/>
                <a:sym typeface="Lato Bold"/>
              </a:rPr>
              <a:t>THANK YOU FOR YOUR ATTENTION!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26204" y="9775507"/>
            <a:ext cx="393192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true">
                <a:solidFill>
                  <a:srgbClr val="00376F"/>
                </a:solidFill>
                <a:latin typeface="Lato Bold"/>
                <a:ea typeface="Lato Bold"/>
                <a:cs typeface="Lato Bold"/>
                <a:sym typeface="Lato Bold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DAHQqXyjKio</dc:identifier>
  <dcterms:modified xsi:type="dcterms:W3CDTF">2011-08-01T06:04:30Z</dcterms:modified>
  <cp:revision>1</cp:revision>
  <dc:title>Quân(アキラ), Quân(シュウイチ)_Week10_Draft_Report.pptx</dc:title>
</cp:coreProperties>
</file>